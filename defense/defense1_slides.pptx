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56634837fd46d7" /><Relationship Type="http://schemas.openxmlformats.org/officeDocument/2006/relationships/extended-properties" Target="/docProps/app.xml" Id="R12969bf597324072" /><Relationship Type="http://schemas.openxmlformats.org/officeDocument/2006/relationships/officeDocument" Target="/ppt/presentation.xml" Id="Rebf67337812d43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45f954e66140c3"/>
  </p:sldMasterIdLst>
  <p:notesMasterIdLst>
    <p:notesMasterId xmlns:r="http://schemas.openxmlformats.org/officeDocument/2006/relationships" r:id="R88f423e3547d4b0f"/>
  </p:notesMasterIdLst>
  <p:sldIdLst>
    <p:sldId xmlns:r="http://schemas.openxmlformats.org/officeDocument/2006/relationships" id="256" r:id="R061e5cc19e2543e0"/>
    <p:sldId xmlns:r="http://schemas.openxmlformats.org/officeDocument/2006/relationships" id="257" r:id="Rd016bef6ae054d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1a26df5d8c43b0" /><Relationship Type="http://schemas.openxmlformats.org/officeDocument/2006/relationships/slideMaster" Target="/ppt/slideMasters/slideMaster1.xml" Id="Rf645f954e66140c3" /><Relationship Type="http://schemas.openxmlformats.org/officeDocument/2006/relationships/notesMaster" Target="/ppt/notesMasters/notesMaster1.xml" Id="R88f423e3547d4b0f" /><Relationship Type="http://schemas.openxmlformats.org/officeDocument/2006/relationships/presProps" Target="/ppt/presProps.xml" Id="R5c2a2cfdad0b49f1" /><Relationship Type="http://schemas.openxmlformats.org/officeDocument/2006/relationships/tableStyles" Target="/ppt/tableStyles.xml" Id="R569b659432f640c2" /><Relationship Type="http://schemas.openxmlformats.org/officeDocument/2006/relationships/slide" Target="/ppt/slides/slide1.xml" Id="R061e5cc19e2543e0" /><Relationship Type="http://schemas.openxmlformats.org/officeDocument/2006/relationships/slide" Target="/ppt/slides/slide2.xml" Id="Rd016bef6ae054d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8673d7fb3545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5e2e9580694486" /><Relationship Type="http://schemas.openxmlformats.org/officeDocument/2006/relationships/notesMaster" Target="/ppt/notesMasters/notesMaster1.xml" Id="R993b4946a3a546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a17e62c9e249ec" /><Relationship Type="http://schemas.openxmlformats.org/officeDocument/2006/relationships/notesMaster" Target="/ppt/notesMasters/notesMaster1.xml" Id="R992ca68075bb46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1c0c34bcc46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421e89737340c1" /><Relationship Type="http://schemas.openxmlformats.org/officeDocument/2006/relationships/slideLayout" Target="/ppt/slideLayouts/slideLayout1.xml" Id="R73d936c3c4ef43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d936c3c4ef43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2311df4154006" /><Relationship Type="http://schemas.openxmlformats.org/officeDocument/2006/relationships/notesSlide" Target="/ppt/notesSlides/notesSlide1.xml" Id="Rc7373980c18a4a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c18f24a8647dc" /><Relationship Type="http://schemas.openxmlformats.org/officeDocument/2006/relationships/notesSlide" Target="/ppt/notesSlides/notesSlide2.xml" Id="R3af921f2891b4ed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tus-accent">
            <a:extLst xmlns:a="http://schemas.openxmlformats.org/drawingml/2006/main">
              <a:ext uri="{FF2B5EF4-FFF2-40B4-BE49-F238E27FC236}">
                <a16:creationId xmlns:a16="http://schemas.microsoft.com/office/drawing/2014/main" id="{5FD2B2C6-7190-49D6-AE45-C107D849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" name="readiness-title">
            <a:extLst xmlns:a="http://schemas.openxmlformats.org/drawingml/2006/main">
              <a:ext uri="{FF2B5EF4-FFF2-40B4-BE49-F238E27FC236}">
                <a16:creationId xmlns:a16="http://schemas.microsoft.com/office/drawing/2014/main" id="{8F2230E1-1B46-4F4F-82C9-6CC8637D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23875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Defense 1 pipeline is working end to end</a:t>
            </a:r>
          </a:p>
        </p:txBody>
      </p:sp>
      <p:sp>
        <p:nvSpPr>
          <p:cNvPr id="3" name="status-label">
            <a:extLst xmlns:a="http://schemas.openxmlformats.org/drawingml/2006/main">
              <a:ext uri="{FF2B5EF4-FFF2-40B4-BE49-F238E27FC236}">
                <a16:creationId xmlns:a16="http://schemas.microsoft.com/office/drawing/2014/main" id="{108B154A-0BB0-423B-BB87-729BAB80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38275"/>
            <a:ext cx="333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NON-WORKING FEATURES</a:t>
            </a:r>
          </a:p>
        </p:txBody>
      </p:sp>
      <p:sp>
        <p:nvSpPr>
          <p:cNvPr id="4" name="status-answer">
            <a:extLst xmlns:a="http://schemas.openxmlformats.org/drawingml/2006/main">
              <a:ext uri="{FF2B5EF4-FFF2-40B4-BE49-F238E27FC236}">
                <a16:creationId xmlns:a16="http://schemas.microsoft.com/office/drawing/2014/main" id="{7F8ED5FB-C6A8-4B2C-867B-39507345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90700"/>
            <a:ext cx="1047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None identified in the final Docker rehearsal.</a:t>
            </a:r>
          </a:p>
        </p:txBody>
      </p:sp>
      <p:sp>
        <p:nvSpPr>
          <p:cNvPr id="5" name="status-evidence">
            <a:extLst xmlns:a="http://schemas.openxmlformats.org/drawingml/2006/main">
              <a:ext uri="{FF2B5EF4-FFF2-40B4-BE49-F238E27FC236}">
                <a16:creationId xmlns:a16="http://schemas.microsoft.com/office/drawing/2014/main" id="{A4AE515C-47D6-4226-8513-DEC39D32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24100"/>
            <a:ext cx="10668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t>High, medium, and clean ingestion; Teams alerts; Data Docs; API predictions; history; and no-new-data skipping were verified. The main release remains intentionally pending.</a:t>
            </a:r>
          </a:p>
        </p:txBody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8CD48B49-6684-45BA-AEA6-361C114A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7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040D610A-9841-413C-95CC-CDA97456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33750"/>
            <a:ext cx="3568732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evidence-stat-1">
            <a:extLst xmlns:a="http://schemas.openxmlformats.org/drawingml/2006/main">
              <a:ext uri="{FF2B5EF4-FFF2-40B4-BE49-F238E27FC236}">
                <a16:creationId xmlns:a16="http://schemas.microsoft.com/office/drawing/2014/main" id="{8B9CF372-4188-4EC4-AAC2-7E76FD5D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37147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62</a:t>
            </a:r>
          </a:p>
        </p:txBody>
      </p:sp>
      <p:sp>
        <p:nvSpPr>
          <p:cNvPr id="9" name="evidence-label-1">
            <a:extLst xmlns:a="http://schemas.openxmlformats.org/drawingml/2006/main">
              <a:ext uri="{FF2B5EF4-FFF2-40B4-BE49-F238E27FC236}">
                <a16:creationId xmlns:a16="http://schemas.microsoft.com/office/drawing/2014/main" id="{3771D949-E889-4B7C-A02A-41DC0307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4838700"/>
            <a:ext cx="295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automated tests passed</a:t>
            </a:r>
          </a:p>
        </p:txBody>
      </p:sp>
      <p:sp>
        <p:nvSpPr>
          <p:cNvPr id="10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CBA5553C-D62E-4CF0-A278-0D4DBB1F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33750"/>
            <a:ext cx="3568732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1" name="evidence-stat-2">
            <a:extLst xmlns:a="http://schemas.openxmlformats.org/drawingml/2006/main">
              <a:ext uri="{FF2B5EF4-FFF2-40B4-BE49-F238E27FC236}">
                <a16:creationId xmlns:a16="http://schemas.microsoft.com/office/drawing/2014/main" id="{A813FC0C-E2C0-4D09-B661-1D0C0AD6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37147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5/5</a:t>
            </a:r>
          </a:p>
        </p:txBody>
      </p:sp>
      <p:sp>
        <p:nvSpPr>
          <p:cNvPr id="12" name="evidence-label-2">
            <a:extLst xmlns:a="http://schemas.openxmlformats.org/drawingml/2006/main">
              <a:ext uri="{FF2B5EF4-FFF2-40B4-BE49-F238E27FC236}">
                <a16:creationId xmlns:a16="http://schemas.microsoft.com/office/drawing/2014/main" id="{07931135-1B6B-499D-B9E0-B8B698BF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4838700"/>
            <a:ext cx="295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ingestion tasks passed</a:t>
            </a:r>
          </a:p>
        </p:txBody>
      </p:sp>
      <p:sp>
        <p:nvSpPr>
          <p:cNvPr id="13" name="evidence-card-3">
            <a:extLst xmlns:a="http://schemas.openxmlformats.org/drawingml/2006/main">
              <a:ext uri="{FF2B5EF4-FFF2-40B4-BE49-F238E27FC236}">
                <a16:creationId xmlns:a16="http://schemas.microsoft.com/office/drawing/2014/main" id="{C4E9A636-62B1-4977-AD25-EC9FFF8B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568732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4" name="evidence-stat-3">
            <a:extLst xmlns:a="http://schemas.openxmlformats.org/drawingml/2006/main">
              <a:ext uri="{FF2B5EF4-FFF2-40B4-BE49-F238E27FC236}">
                <a16:creationId xmlns:a16="http://schemas.microsoft.com/office/drawing/2014/main" id="{094BFFDE-A2BA-449F-A572-CBD50C0B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147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37</a:t>
            </a:r>
          </a:p>
        </p:txBody>
      </p:sp>
      <p:sp>
        <p:nvSpPr>
          <p:cNvPr id="15" name="evidence-label-3">
            <a:extLst xmlns:a="http://schemas.openxmlformats.org/drawingml/2006/main">
              <a:ext uri="{FF2B5EF4-FFF2-40B4-BE49-F238E27FC236}">
                <a16:creationId xmlns:a16="http://schemas.microsoft.com/office/drawing/2014/main" id="{74B6B0C0-1510-4367-B8D0-7020FC20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38700"/>
            <a:ext cx="295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scheduled predictions saved</a:t>
            </a:r>
          </a:p>
        </p:txBody>
      </p:sp>
    </p:spTree>
    <p:extLst>
      <p:ext uri="{BB962C8B-B14F-4D97-AF65-F5344CB8AC3E}">
        <p14:creationId xmlns:p14="http://schemas.microsoft.com/office/powerpoint/2010/main" val="17808426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wnership-accent">
            <a:extLst xmlns:a="http://schemas.openxmlformats.org/drawingml/2006/main">
              <a:ext uri="{FF2B5EF4-FFF2-40B4-BE49-F238E27FC236}">
                <a16:creationId xmlns:a16="http://schemas.microsoft.com/office/drawing/2014/main" id="{92903769-D7FD-4EBE-82ED-CCBFF616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" name="ownership-title">
            <a:extLst xmlns:a="http://schemas.openxmlformats.org/drawingml/2006/main">
              <a:ext uri="{FF2B5EF4-FFF2-40B4-BE49-F238E27FC236}">
                <a16:creationId xmlns:a16="http://schemas.microsoft.com/office/drawing/2014/main" id="{3CAFEF44-65BF-4FFB-BD60-1833B0D4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23875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Each member owns a complete pipeline layer</a:t>
            </a:r>
          </a:p>
        </p:txBody>
      </p:sp>
      <p:sp>
        <p:nvSpPr>
          <p:cNvPr id="3" name="ownership-subtitle">
            <a:extLst xmlns:a="http://schemas.openxmlformats.org/drawingml/2006/main">
              <a:ext uri="{FF2B5EF4-FFF2-40B4-BE49-F238E27FC236}">
                <a16:creationId xmlns:a16="http://schemas.microsoft.com/office/drawing/2014/main" id="{15D63EAB-3CAB-4BD3-8006-D6278D6B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04925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t>The implementation can be presented as one connected flow: data quality -&gt; model -&gt; API -&gt; web demo.</a:t>
            </a:r>
          </a:p>
        </p:txBody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8FD3F48B-FF9E-40F8-94A5-51BF35B3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5" name="member-rule-1">
            <a:extLst xmlns:a="http://schemas.openxmlformats.org/drawingml/2006/main">
              <a:ext uri="{FF2B5EF4-FFF2-40B4-BE49-F238E27FC236}">
                <a16:creationId xmlns:a16="http://schemas.microsoft.com/office/drawing/2014/main" id="{5CBA61BE-D418-40B4-A223-07D82B27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9775"/>
            <a:ext cx="259594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member-name-1">
            <a:extLst xmlns:a="http://schemas.openxmlformats.org/drawingml/2006/main">
              <a:ext uri="{FF2B5EF4-FFF2-40B4-BE49-F238E27FC236}">
                <a16:creationId xmlns:a16="http://schemas.microsoft.com/office/drawing/2014/main" id="{6A384F0A-D851-4798-A918-B7E10FD2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47900"/>
            <a:ext cx="259594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Fateh Cherrad</a:t>
            </a:r>
          </a:p>
        </p:txBody>
      </p:sp>
      <p:sp>
        <p:nvSpPr>
          <p:cNvPr id="7" name="member-role-1">
            <a:extLst xmlns:a="http://schemas.openxmlformats.org/drawingml/2006/main">
              <a:ext uri="{FF2B5EF4-FFF2-40B4-BE49-F238E27FC236}">
                <a16:creationId xmlns:a16="http://schemas.microsoft.com/office/drawing/2014/main" id="{68950912-2F5E-4E39-85DC-EAE881C3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86050"/>
            <a:ext cx="2595944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Data quality &amp; integration</a:t>
            </a:r>
          </a:p>
        </p:txBody>
      </p:sp>
      <p:sp>
        <p:nvSpPr>
          <p:cNvPr id="8" name="member-work-1">
            <a:extLst xmlns:a="http://schemas.openxmlformats.org/drawingml/2006/main">
              <a:ext uri="{FF2B5EF4-FFF2-40B4-BE49-F238E27FC236}">
                <a16:creationId xmlns:a16="http://schemas.microsoft.com/office/drawing/2014/main" id="{9298E932-40C4-4BF9-9907-69E3E203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14700"/>
            <a:ext cx="2595944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- Data splitting and corruption generation
- Great Expectations and Data Docs
- Statistics, Teams alerts, final rehearsal</a:t>
            </a:r>
          </a:p>
        </p:txBody>
      </p:sp>
      <p:sp>
        <p:nvSpPr>
          <p:cNvPr id="9" name="member-focus-1">
            <a:extLst xmlns:a="http://schemas.openxmlformats.org/drawingml/2006/main">
              <a:ext uri="{FF2B5EF4-FFF2-40B4-BE49-F238E27FC236}">
                <a16:creationId xmlns:a16="http://schemas.microsoft.com/office/drawing/2014/main" id="{5674346C-A0FD-4A2D-8A00-29DCD60D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95875"/>
            <a:ext cx="2595944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t>Defense focus
Ingestion lifecycle and integration</a:t>
            </a:r>
          </a:p>
        </p:txBody>
      </p:sp>
      <p:sp>
        <p:nvSpPr>
          <p:cNvPr id="10" name="member-rule-2">
            <a:extLst xmlns:a="http://schemas.openxmlformats.org/drawingml/2006/main">
              <a:ext uri="{FF2B5EF4-FFF2-40B4-BE49-F238E27FC236}">
                <a16:creationId xmlns:a16="http://schemas.microsoft.com/office/drawing/2014/main" id="{F299A806-FC1B-4CCA-B230-620B0B5C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009775"/>
            <a:ext cx="259594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1" name="member-name-2">
            <a:extLst xmlns:a="http://schemas.openxmlformats.org/drawingml/2006/main">
              <a:ext uri="{FF2B5EF4-FFF2-40B4-BE49-F238E27FC236}">
                <a16:creationId xmlns:a16="http://schemas.microsoft.com/office/drawing/2014/main" id="{962EF071-F66C-40F2-9CC5-A063A2EF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47900"/>
            <a:ext cx="259594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Yassine</a:t>
            </a:r>
          </a:p>
        </p:txBody>
      </p:sp>
      <p:sp>
        <p:nvSpPr>
          <p:cNvPr id="12" name="member-role-2">
            <a:extLst xmlns:a="http://schemas.openxmlformats.org/drawingml/2006/main">
              <a:ext uri="{FF2B5EF4-FFF2-40B4-BE49-F238E27FC236}">
                <a16:creationId xmlns:a16="http://schemas.microsoft.com/office/drawing/2014/main" id="{86696E3D-BA2A-476E-9944-2C07C4A2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686050"/>
            <a:ext cx="2595944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Model &amp; Airflow platform</a:t>
            </a:r>
          </a:p>
        </p:txBody>
      </p:sp>
      <p:sp>
        <p:nvSpPr>
          <p:cNvPr id="13" name="member-work-2">
            <a:extLst xmlns:a="http://schemas.openxmlformats.org/drawingml/2006/main">
              <a:ext uri="{FF2B5EF4-FFF2-40B4-BE49-F238E27FC236}">
                <a16:creationId xmlns:a16="http://schemas.microsoft.com/office/drawing/2014/main" id="{15B577C8-F439-44E5-AC22-F538EA67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3314700"/>
            <a:ext cx="2595944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- Baseline and upgraded model
- Training metrics and model tests
- Airflow and Docker backend setup</a:t>
            </a:r>
          </a:p>
        </p:txBody>
      </p:sp>
      <p:sp>
        <p:nvSpPr>
          <p:cNvPr id="14" name="member-focus-2">
            <a:extLst xmlns:a="http://schemas.openxmlformats.org/drawingml/2006/main">
              <a:ext uri="{FF2B5EF4-FFF2-40B4-BE49-F238E27FC236}">
                <a16:creationId xmlns:a16="http://schemas.microsoft.com/office/drawing/2014/main" id="{44206B8E-4831-42EF-B6C9-4DC4114A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5095875"/>
            <a:ext cx="2595944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t>Defense focus
Model choices and orchestration</a:t>
            </a:r>
          </a:p>
        </p:txBody>
      </p:sp>
      <p:sp>
        <p:nvSpPr>
          <p:cNvPr id="15" name="member-rule-3">
            <a:extLst xmlns:a="http://schemas.openxmlformats.org/drawingml/2006/main">
              <a:ext uri="{FF2B5EF4-FFF2-40B4-BE49-F238E27FC236}">
                <a16:creationId xmlns:a16="http://schemas.microsoft.com/office/drawing/2014/main" id="{4ED37C31-BF7E-4197-8D65-7352081E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308" y="2009775"/>
            <a:ext cx="259594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6" name="member-name-3">
            <a:extLst xmlns:a="http://schemas.openxmlformats.org/drawingml/2006/main">
              <a:ext uri="{FF2B5EF4-FFF2-40B4-BE49-F238E27FC236}">
                <a16:creationId xmlns:a16="http://schemas.microsoft.com/office/drawing/2014/main" id="{F7DCE049-F090-4CC0-8AB3-FE6B74FB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308" y="2247900"/>
            <a:ext cx="259594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Ashish</a:t>
            </a:r>
          </a:p>
        </p:txBody>
      </p:sp>
      <p:sp>
        <p:nvSpPr>
          <p:cNvPr id="17" name="member-role-3">
            <a:extLst xmlns:a="http://schemas.openxmlformats.org/drawingml/2006/main">
              <a:ext uri="{FF2B5EF4-FFF2-40B4-BE49-F238E27FC236}">
                <a16:creationId xmlns:a16="http://schemas.microsoft.com/office/drawing/2014/main" id="{F62A3667-7637-41A3-A378-D6C95D53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308" y="2686050"/>
            <a:ext cx="2595944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API &amp; persistence</a:t>
            </a:r>
          </a:p>
        </p:txBody>
      </p:sp>
      <p:sp>
        <p:nvSpPr>
          <p:cNvPr id="18" name="member-work-3">
            <a:extLst xmlns:a="http://schemas.openxmlformats.org/drawingml/2006/main">
              <a:ext uri="{FF2B5EF4-FFF2-40B4-BE49-F238E27FC236}">
                <a16:creationId xmlns:a16="http://schemas.microsoft.com/office/drawing/2014/main" id="{5C1BA1F9-7EEC-4F5E-97D8-5DE5BEDD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308" y="3314700"/>
            <a:ext cx="2595944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- FastAPI schemas and endpoints
- PostgreSQL and SQLAlchemy persistence
- Prediction history and prediction DAG</a:t>
            </a:r>
          </a:p>
        </p:txBody>
      </p:sp>
      <p:sp>
        <p:nvSpPr>
          <p:cNvPr id="19" name="member-focus-3">
            <a:extLst xmlns:a="http://schemas.openxmlformats.org/drawingml/2006/main">
              <a:ext uri="{FF2B5EF4-FFF2-40B4-BE49-F238E27FC236}">
                <a16:creationId xmlns:a16="http://schemas.microsoft.com/office/drawing/2014/main" id="{816C8335-96E3-4A5B-9BD3-F87FD926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308" y="5095875"/>
            <a:ext cx="2595944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t>Defense focus
API contracts and stored results</a:t>
            </a:r>
          </a:p>
        </p:txBody>
      </p:sp>
      <p:sp>
        <p:nvSpPr>
          <p:cNvPr id="20" name="member-rule-4">
            <a:extLst xmlns:a="http://schemas.openxmlformats.org/drawingml/2006/main">
              <a:ext uri="{FF2B5EF4-FFF2-40B4-BE49-F238E27FC236}">
                <a16:creationId xmlns:a16="http://schemas.microsoft.com/office/drawing/2014/main" id="{3353009D-1E5E-458F-B50A-AFFF5782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628" y="2009775"/>
            <a:ext cx="259594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1" name="member-name-4">
            <a:extLst xmlns:a="http://schemas.openxmlformats.org/drawingml/2006/main">
              <a:ext uri="{FF2B5EF4-FFF2-40B4-BE49-F238E27FC236}">
                <a16:creationId xmlns:a16="http://schemas.microsoft.com/office/drawing/2014/main" id="{305802E2-96C1-42AF-BC0C-9ACD0F0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628" y="2247900"/>
            <a:ext cx="259594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Akash</a:t>
            </a:r>
          </a:p>
        </p:txBody>
      </p:sp>
      <p:sp>
        <p:nvSpPr>
          <p:cNvPr id="22" name="member-role-4">
            <a:extLst xmlns:a="http://schemas.openxmlformats.org/drawingml/2006/main">
              <a:ext uri="{FF2B5EF4-FFF2-40B4-BE49-F238E27FC236}">
                <a16:creationId xmlns:a16="http://schemas.microsoft.com/office/drawing/2014/main" id="{6E3E900C-4600-4D55-88EC-48B49B58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628" y="2686050"/>
            <a:ext cx="2595944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Web application &amp; demo</a:t>
            </a:r>
          </a:p>
        </p:txBody>
      </p:sp>
      <p:sp>
        <p:nvSpPr>
          <p:cNvPr id="23" name="member-work-4">
            <a:extLst xmlns:a="http://schemas.openxmlformats.org/drawingml/2006/main">
              <a:ext uri="{FF2B5EF4-FFF2-40B4-BE49-F238E27FC236}">
                <a16:creationId xmlns:a16="http://schemas.microsoft.com/office/drawing/2014/main" id="{9E351F5C-DF2C-432B-94D6-96D9F231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628" y="3314700"/>
            <a:ext cx="2595944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- Streamlit single and batch prediction
- User-friendly feature inputs
- Past predictions and Streamlit Docker</a:t>
            </a:r>
          </a:p>
        </p:txBody>
      </p:sp>
      <p:sp>
        <p:nvSpPr>
          <p:cNvPr id="24" name="member-focus-4">
            <a:extLst xmlns:a="http://schemas.openxmlformats.org/drawingml/2006/main">
              <a:ext uri="{FF2B5EF4-FFF2-40B4-BE49-F238E27FC236}">
                <a16:creationId xmlns:a16="http://schemas.microsoft.com/office/drawing/2014/main" id="{16B77A7D-44D3-4AFE-81EE-47A1ECC1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628" y="5095875"/>
            <a:ext cx="2595944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t>Defense focus
Live prediction workflow</a:t>
            </a:r>
          </a:p>
        </p:txBody>
      </p:sp>
    </p:spTree>
    <p:extLst>
      <p:ext uri="{BB962C8B-B14F-4D97-AF65-F5344CB8AC3E}">
        <p14:creationId xmlns:p14="http://schemas.microsoft.com/office/powerpoint/2010/main" val="1086072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2026-07-13T21:24:34.3340000Z</dcterms:created>
  <dcterms:modified xsi:type="dcterms:W3CDTF">2026-07-13T21:24:34.3350000Z</dcterms:modified>
</coreProperties>
</file>